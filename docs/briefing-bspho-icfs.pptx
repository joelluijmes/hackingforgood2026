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05600" cy="99441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7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Google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9575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4450" y="0"/>
            <a:ext cx="2949575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20688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1038" y="4786313"/>
            <a:ext cx="5443537" cy="391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45625"/>
            <a:ext cx="2949575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420688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1038" y="4786313"/>
            <a:ext cx="5443537" cy="391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/>
          <p:nvPr>
            <p:ph idx="2" type="sldImg"/>
          </p:nvPr>
        </p:nvSpPr>
        <p:spPr>
          <a:xfrm>
            <a:off x="420688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1038" y="4786313"/>
            <a:ext cx="5443537" cy="391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 txBox="1"/>
          <p:nvPr>
            <p:ph idx="12" type="sldNum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/>
          <p:nvPr>
            <p:ph idx="2" type="sldImg"/>
          </p:nvPr>
        </p:nvSpPr>
        <p:spPr>
          <a:xfrm>
            <a:off x="420688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1038" y="4786313"/>
            <a:ext cx="5443537" cy="391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 txBox="1"/>
          <p:nvPr>
            <p:ph idx="12" type="sldNum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/>
          <p:nvPr>
            <p:ph idx="2" type="sldImg"/>
          </p:nvPr>
        </p:nvSpPr>
        <p:spPr>
          <a:xfrm>
            <a:off x="420688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1038" y="4786313"/>
            <a:ext cx="5443537" cy="391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 txBox="1"/>
          <p:nvPr>
            <p:ph idx="12" type="sldNum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420688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1038" y="4786313"/>
            <a:ext cx="5443537" cy="391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 txBox="1"/>
          <p:nvPr>
            <p:ph idx="12" type="sldNum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420688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1038" y="4786313"/>
            <a:ext cx="5443537" cy="391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420688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1038" y="4786313"/>
            <a:ext cx="5443537" cy="391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/>
          <p:nvPr>
            <p:ph idx="2" type="sldImg"/>
          </p:nvPr>
        </p:nvSpPr>
        <p:spPr>
          <a:xfrm>
            <a:off x="420688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1038" y="4786313"/>
            <a:ext cx="5443537" cy="391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 txBox="1"/>
          <p:nvPr>
            <p:ph idx="12" type="sldNum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/>
          <p:nvPr>
            <p:ph idx="2" type="sldImg"/>
          </p:nvPr>
        </p:nvSpPr>
        <p:spPr>
          <a:xfrm>
            <a:off x="420688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1038" y="4786313"/>
            <a:ext cx="5443537" cy="391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 txBox="1"/>
          <p:nvPr>
            <p:ph idx="12" type="sldNum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420688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1038" y="4786313"/>
            <a:ext cx="5443537" cy="391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 txBox="1"/>
          <p:nvPr>
            <p:ph idx="12" type="sldNum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/>
          <p:nvPr>
            <p:ph idx="2" type="sldImg"/>
          </p:nvPr>
        </p:nvSpPr>
        <p:spPr>
          <a:xfrm>
            <a:off x="420688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1:notes"/>
          <p:cNvSpPr txBox="1"/>
          <p:nvPr>
            <p:ph idx="1" type="body"/>
          </p:nvPr>
        </p:nvSpPr>
        <p:spPr>
          <a:xfrm>
            <a:off x="681038" y="4786313"/>
            <a:ext cx="5443537" cy="391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:notes"/>
          <p:cNvSpPr txBox="1"/>
          <p:nvPr>
            <p:ph idx="12" type="sldNum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h76ab06fe0df492eb_0_79:notes"/>
          <p:cNvSpPr/>
          <p:nvPr>
            <p:ph idx="2" type="sldImg"/>
          </p:nvPr>
        </p:nvSpPr>
        <p:spPr>
          <a:xfrm>
            <a:off x="420688" y="1243013"/>
            <a:ext cx="5964300" cy="335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h76ab06fe0df492eb_0_79:notes"/>
          <p:cNvSpPr txBox="1"/>
          <p:nvPr>
            <p:ph idx="1" type="body"/>
          </p:nvPr>
        </p:nvSpPr>
        <p:spPr>
          <a:xfrm>
            <a:off x="681038" y="4786313"/>
            <a:ext cx="5443500" cy="39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h76ab06fe0df492eb_0_79:notes"/>
          <p:cNvSpPr txBox="1"/>
          <p:nvPr>
            <p:ph idx="12" type="sldNum"/>
          </p:nvPr>
        </p:nvSpPr>
        <p:spPr>
          <a:xfrm>
            <a:off x="3854450" y="9445625"/>
            <a:ext cx="29496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h76ab06fe0df492eb_0_52:notes"/>
          <p:cNvSpPr/>
          <p:nvPr>
            <p:ph idx="2" type="sldImg"/>
          </p:nvPr>
        </p:nvSpPr>
        <p:spPr>
          <a:xfrm>
            <a:off x="420688" y="1243013"/>
            <a:ext cx="5964300" cy="335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h76ab06fe0df492eb_0_52:notes"/>
          <p:cNvSpPr txBox="1"/>
          <p:nvPr>
            <p:ph idx="1" type="body"/>
          </p:nvPr>
        </p:nvSpPr>
        <p:spPr>
          <a:xfrm>
            <a:off x="681038" y="4786313"/>
            <a:ext cx="5443500" cy="39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h76ab06fe0df492eb_0_52:notes"/>
          <p:cNvSpPr txBox="1"/>
          <p:nvPr>
            <p:ph idx="12" type="sldNum"/>
          </p:nvPr>
        </p:nvSpPr>
        <p:spPr>
          <a:xfrm>
            <a:off x="3854450" y="9445625"/>
            <a:ext cx="29496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h76ab06fe0df492eb_0_66:notes"/>
          <p:cNvSpPr/>
          <p:nvPr>
            <p:ph idx="2" type="sldImg"/>
          </p:nvPr>
        </p:nvSpPr>
        <p:spPr>
          <a:xfrm>
            <a:off x="420688" y="1243013"/>
            <a:ext cx="5964300" cy="335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h76ab06fe0df492eb_0_66:notes"/>
          <p:cNvSpPr txBox="1"/>
          <p:nvPr>
            <p:ph idx="1" type="body"/>
          </p:nvPr>
        </p:nvSpPr>
        <p:spPr>
          <a:xfrm>
            <a:off x="681038" y="4786313"/>
            <a:ext cx="5443500" cy="39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h76ab06fe0df492eb_0_66:notes"/>
          <p:cNvSpPr txBox="1"/>
          <p:nvPr>
            <p:ph idx="12" type="sldNum"/>
          </p:nvPr>
        </p:nvSpPr>
        <p:spPr>
          <a:xfrm>
            <a:off x="3854450" y="9445625"/>
            <a:ext cx="29496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h76ab06fe0df492eb_0_59:notes"/>
          <p:cNvSpPr/>
          <p:nvPr>
            <p:ph idx="2" type="sldImg"/>
          </p:nvPr>
        </p:nvSpPr>
        <p:spPr>
          <a:xfrm>
            <a:off x="420688" y="1243013"/>
            <a:ext cx="5964300" cy="335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h76ab06fe0df492eb_0_59:notes"/>
          <p:cNvSpPr txBox="1"/>
          <p:nvPr>
            <p:ph idx="1" type="body"/>
          </p:nvPr>
        </p:nvSpPr>
        <p:spPr>
          <a:xfrm>
            <a:off x="681038" y="4786313"/>
            <a:ext cx="5443500" cy="39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h76ab06fe0df492eb_0_59:notes"/>
          <p:cNvSpPr txBox="1"/>
          <p:nvPr>
            <p:ph idx="12" type="sldNum"/>
          </p:nvPr>
        </p:nvSpPr>
        <p:spPr>
          <a:xfrm>
            <a:off x="3854450" y="9445625"/>
            <a:ext cx="29496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h76ab06fe0df492eb_0_45:notes"/>
          <p:cNvSpPr/>
          <p:nvPr>
            <p:ph idx="2" type="sldImg"/>
          </p:nvPr>
        </p:nvSpPr>
        <p:spPr>
          <a:xfrm>
            <a:off x="420688" y="1243013"/>
            <a:ext cx="5964300" cy="335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h76ab06fe0df492eb_0_45:notes"/>
          <p:cNvSpPr txBox="1"/>
          <p:nvPr>
            <p:ph idx="1" type="body"/>
          </p:nvPr>
        </p:nvSpPr>
        <p:spPr>
          <a:xfrm>
            <a:off x="681038" y="4786313"/>
            <a:ext cx="5443500" cy="39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h76ab06fe0df492eb_0_45:notes"/>
          <p:cNvSpPr txBox="1"/>
          <p:nvPr>
            <p:ph idx="12" type="sldNum"/>
          </p:nvPr>
        </p:nvSpPr>
        <p:spPr>
          <a:xfrm>
            <a:off x="3854450" y="9445625"/>
            <a:ext cx="29496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h76ab06fe0df492eb_0_146:notes"/>
          <p:cNvSpPr/>
          <p:nvPr>
            <p:ph idx="2" type="sldImg"/>
          </p:nvPr>
        </p:nvSpPr>
        <p:spPr>
          <a:xfrm>
            <a:off x="420688" y="1243013"/>
            <a:ext cx="5964300" cy="335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h76ab06fe0df492eb_0_146:notes"/>
          <p:cNvSpPr txBox="1"/>
          <p:nvPr>
            <p:ph idx="1" type="body"/>
          </p:nvPr>
        </p:nvSpPr>
        <p:spPr>
          <a:xfrm>
            <a:off x="681038" y="4786313"/>
            <a:ext cx="5443500" cy="39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h76ab06fe0df492eb_0_146:notes"/>
          <p:cNvSpPr txBox="1"/>
          <p:nvPr>
            <p:ph idx="12" type="sldNum"/>
          </p:nvPr>
        </p:nvSpPr>
        <p:spPr>
          <a:xfrm>
            <a:off x="3854450" y="9445625"/>
            <a:ext cx="29496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dia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en objec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ekop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oud van twee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gelijking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leen titel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eg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oud met bijschrift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fbeelding met bijschrift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en verticale teks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e titel en teks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3" title="BSPHO"/>
          <p:cNvPicPr preferRelativeResize="0"/>
          <p:nvPr/>
        </p:nvPicPr>
        <p:blipFill rotWithShape="1">
          <a:blip r:embed="rId3">
            <a:alphaModFix/>
          </a:blip>
          <a:srcRect b="8148" l="0" r="1250" t="16420"/>
          <a:stretch/>
        </p:blipFill>
        <p:spPr>
          <a:xfrm>
            <a:off x="47592" y="650118"/>
            <a:ext cx="12144408" cy="5162853"/>
          </a:xfrm>
          <a:prstGeom prst="rect">
            <a:avLst/>
          </a:prstGeom>
          <a:solidFill>
            <a:srgbClr val="A6D7FF"/>
          </a:solidFill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0" y="650118"/>
            <a:ext cx="5965371" cy="5162853"/>
          </a:xfrm>
          <a:prstGeom prst="rect">
            <a:avLst/>
          </a:prstGeom>
          <a:solidFill>
            <a:srgbClr val="A5D4F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SPHO" id="91" name="Google Shape;9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53772" y="5960356"/>
            <a:ext cx="1536267" cy="72831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575904" y="1120199"/>
            <a:ext cx="50841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BSPHO </a:t>
            </a:r>
            <a:br>
              <a:rPr b="1" lang="en-GB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GB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&amp;</a:t>
            </a:r>
            <a:br>
              <a:rPr b="1" lang="en-GB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GB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Solve with Google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324067"/>
                </a:solidFill>
                <a:latin typeface="Calibri"/>
                <a:ea typeface="Calibri"/>
                <a:cs typeface="Calibri"/>
                <a:sym typeface="Calibri"/>
              </a:rPr>
              <a:t>Use Case: ICF Preparation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96F07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r>
              <a:rPr lang="en-GB" sz="2400">
                <a:solidFill>
                  <a:srgbClr val="F96F07"/>
                </a:solidFill>
                <a:latin typeface="Calibri"/>
                <a:ea typeface="Calibri"/>
                <a:cs typeface="Calibri"/>
                <a:sym typeface="Calibri"/>
              </a:rPr>
              <a:t> October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96F07"/>
              </a:buClr>
              <a:buSzPts val="4400"/>
              <a:buFont typeface="Calibri"/>
              <a:buNone/>
            </a:pPr>
            <a:r>
              <a:rPr b="1" lang="en-GB">
                <a:solidFill>
                  <a:srgbClr val="F96F07"/>
                </a:solidFill>
              </a:rPr>
              <a:t>What is an ICF and why is it used?</a:t>
            </a:r>
            <a:endParaRPr/>
          </a:p>
        </p:txBody>
      </p:sp>
      <p:sp>
        <p:nvSpPr>
          <p:cNvPr id="99" name="Google Shape;99;p14"/>
          <p:cNvSpPr txBox="1"/>
          <p:nvPr>
            <p:ph idx="1" type="body"/>
          </p:nvPr>
        </p:nvSpPr>
        <p:spPr>
          <a:xfrm>
            <a:off x="838200" y="1616400"/>
            <a:ext cx="10515600" cy="46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43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0" i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200"/>
              <a:buNone/>
            </a:pPr>
            <a:r>
              <a:rPr b="1" lang="en-GB" sz="3000">
                <a:solidFill>
                  <a:srgbClr val="0070C0"/>
                </a:solidFill>
              </a:rPr>
              <a:t> Informed Consent Form (ICF)</a:t>
            </a:r>
            <a:endParaRPr b="1" sz="3000"/>
          </a:p>
          <a:p>
            <a:pPr indent="-4191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lang="en-GB" sz="3000">
                <a:solidFill>
                  <a:srgbClr val="0070C0"/>
                </a:solidFill>
              </a:rPr>
              <a:t>D</a:t>
            </a:r>
            <a:r>
              <a:rPr lang="en-GB" sz="3000">
                <a:solidFill>
                  <a:srgbClr val="0070C0"/>
                </a:solidFill>
              </a:rPr>
              <a:t>escribes all aspects of the the clinical study to the potential participant, including treatments and procedures (e.g. blood draw, biopsy) </a:t>
            </a:r>
            <a:endParaRPr sz="3000"/>
          </a:p>
          <a:p>
            <a:pPr indent="-419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lang="en-GB" sz="3000">
                <a:solidFill>
                  <a:srgbClr val="0070C0"/>
                </a:solidFill>
              </a:rPr>
              <a:t>M</a:t>
            </a:r>
            <a:r>
              <a:rPr lang="en-GB" sz="3000">
                <a:solidFill>
                  <a:srgbClr val="0070C0"/>
                </a:solidFill>
              </a:rPr>
              <a:t>andatory part of Good Clinical Practices, to preserve the safety and integrity of study participants</a:t>
            </a:r>
            <a:endParaRPr sz="3000"/>
          </a:p>
          <a:p>
            <a:pPr indent="-419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lang="en-GB" sz="3000">
                <a:solidFill>
                  <a:srgbClr val="0070C0"/>
                </a:solidFill>
              </a:rPr>
              <a:t>D</a:t>
            </a:r>
            <a:r>
              <a:rPr lang="en-GB" sz="3000">
                <a:solidFill>
                  <a:srgbClr val="0070C0"/>
                </a:solidFill>
              </a:rPr>
              <a:t>ocuments that the participant has properly understood the study and what is required of them</a:t>
            </a:r>
            <a:endParaRPr sz="3000">
              <a:solidFill>
                <a:srgbClr val="0070C0"/>
              </a:solidFill>
            </a:endParaRPr>
          </a:p>
        </p:txBody>
      </p:sp>
      <p:pic>
        <p:nvPicPr>
          <p:cNvPr descr="BSPHO"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38438" y="626356"/>
            <a:ext cx="1536267" cy="728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96F07"/>
              </a:buClr>
              <a:buSzPts val="4400"/>
              <a:buFont typeface="Calibri"/>
              <a:buNone/>
            </a:pPr>
            <a:r>
              <a:rPr b="1" lang="en-GB">
                <a:solidFill>
                  <a:srgbClr val="F96F07"/>
                </a:solidFill>
              </a:rPr>
              <a:t>The different types of ICF</a:t>
            </a:r>
            <a:endParaRPr/>
          </a:p>
        </p:txBody>
      </p:sp>
      <p:sp>
        <p:nvSpPr>
          <p:cNvPr id="107" name="Google Shape;107;p15"/>
          <p:cNvSpPr txBox="1"/>
          <p:nvPr>
            <p:ph idx="1" type="body"/>
          </p:nvPr>
        </p:nvSpPr>
        <p:spPr>
          <a:xfrm>
            <a:off x="838200" y="1610225"/>
            <a:ext cx="10515600" cy="46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2873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0" i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b="1" lang="en-GB" sz="3000">
                <a:solidFill>
                  <a:srgbClr val="0070C0"/>
                </a:solidFill>
              </a:rPr>
              <a:t>A</a:t>
            </a:r>
            <a:r>
              <a:rPr b="1" lang="en-GB" sz="3000">
                <a:solidFill>
                  <a:srgbClr val="0070C0"/>
                </a:solidFill>
              </a:rPr>
              <a:t>dults</a:t>
            </a:r>
            <a:r>
              <a:rPr lang="en-GB" sz="3000">
                <a:solidFill>
                  <a:srgbClr val="0070C0"/>
                </a:solidFill>
              </a:rPr>
              <a:t>: some </a:t>
            </a:r>
            <a:r>
              <a:rPr lang="en-GB" sz="3000">
                <a:solidFill>
                  <a:srgbClr val="0070C0"/>
                </a:solidFill>
              </a:rPr>
              <a:t>paediatric</a:t>
            </a:r>
            <a:r>
              <a:rPr lang="en-GB" sz="3000">
                <a:solidFill>
                  <a:srgbClr val="0070C0"/>
                </a:solidFill>
              </a:rPr>
              <a:t> studies may recruit adult or young adult patients or an active participant becomes an adult</a:t>
            </a:r>
            <a:endParaRPr sz="3000"/>
          </a:p>
          <a:p>
            <a:pPr indent="-419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b="1" lang="en-GB" sz="3000">
                <a:solidFill>
                  <a:srgbClr val="0070C0"/>
                </a:solidFill>
              </a:rPr>
              <a:t>P</a:t>
            </a:r>
            <a:r>
              <a:rPr b="1" lang="en-GB" sz="3000">
                <a:solidFill>
                  <a:srgbClr val="0070C0"/>
                </a:solidFill>
              </a:rPr>
              <a:t>arents</a:t>
            </a:r>
            <a:r>
              <a:rPr lang="en-GB" sz="3000">
                <a:solidFill>
                  <a:srgbClr val="0070C0"/>
                </a:solidFill>
              </a:rPr>
              <a:t>: for minors, the legal signature must be provided by the parents of the participant</a:t>
            </a:r>
            <a:endParaRPr sz="3000"/>
          </a:p>
          <a:p>
            <a:pPr indent="-419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b="1" lang="en-GB" sz="3000">
                <a:solidFill>
                  <a:srgbClr val="0070C0"/>
                </a:solidFill>
              </a:rPr>
              <a:t>A</a:t>
            </a:r>
            <a:r>
              <a:rPr b="1" lang="en-GB" sz="3000">
                <a:solidFill>
                  <a:srgbClr val="0070C0"/>
                </a:solidFill>
              </a:rPr>
              <a:t>dolescents (12-17 years)</a:t>
            </a:r>
            <a:r>
              <a:rPr lang="en-GB" sz="3000">
                <a:solidFill>
                  <a:srgbClr val="0070C0"/>
                </a:solidFill>
              </a:rPr>
              <a:t>: describes the study in simpler language and is more limited when it comes to administrative information like insurance</a:t>
            </a:r>
            <a:endParaRPr sz="3000"/>
          </a:p>
          <a:p>
            <a:pPr indent="-419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b="1" lang="en-GB" sz="3000">
                <a:solidFill>
                  <a:srgbClr val="0070C0"/>
                </a:solidFill>
              </a:rPr>
              <a:t>C</a:t>
            </a:r>
            <a:r>
              <a:rPr b="1" lang="en-GB" sz="3000">
                <a:solidFill>
                  <a:srgbClr val="0070C0"/>
                </a:solidFill>
              </a:rPr>
              <a:t>hildren (8-11 years)</a:t>
            </a:r>
            <a:r>
              <a:rPr lang="en-GB" sz="3000">
                <a:solidFill>
                  <a:srgbClr val="0070C0"/>
                </a:solidFill>
              </a:rPr>
              <a:t>: shortened version (2 pages), very basic and high level information, with illustrations</a:t>
            </a:r>
            <a:endParaRPr sz="3000"/>
          </a:p>
        </p:txBody>
      </p:sp>
      <p:pic>
        <p:nvPicPr>
          <p:cNvPr descr="BSPHO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38438" y="626356"/>
            <a:ext cx="1536267" cy="728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96F07"/>
              </a:buClr>
              <a:buSzPts val="4400"/>
              <a:buFont typeface="Calibri"/>
              <a:buNone/>
            </a:pPr>
            <a:r>
              <a:rPr b="1" lang="en-GB">
                <a:solidFill>
                  <a:srgbClr val="F96F07"/>
                </a:solidFill>
              </a:rPr>
              <a:t>The Main Stakeholders</a:t>
            </a:r>
            <a:endParaRPr/>
          </a:p>
        </p:txBody>
      </p:sp>
      <p:sp>
        <p:nvSpPr>
          <p:cNvPr id="115" name="Google Shape;115;p16"/>
          <p:cNvSpPr txBox="1"/>
          <p:nvPr>
            <p:ph idx="1" type="body"/>
          </p:nvPr>
        </p:nvSpPr>
        <p:spPr>
          <a:xfrm>
            <a:off x="838200" y="1898075"/>
            <a:ext cx="10515600" cy="46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9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b="1" lang="en-GB" sz="3000">
                <a:solidFill>
                  <a:srgbClr val="0070C0"/>
                </a:solidFill>
              </a:rPr>
              <a:t>Sponsor</a:t>
            </a:r>
            <a:r>
              <a:rPr lang="en-GB" sz="3000">
                <a:solidFill>
                  <a:srgbClr val="0070C0"/>
                </a:solidFill>
              </a:rPr>
              <a:t>: the organisation that is conducting and coordinating the research study on an international level</a:t>
            </a:r>
            <a:br>
              <a:rPr lang="en-GB" sz="3000">
                <a:solidFill>
                  <a:srgbClr val="0070C0"/>
                </a:solidFill>
              </a:rPr>
            </a:br>
            <a:endParaRPr sz="3000">
              <a:solidFill>
                <a:srgbClr val="0070C0"/>
              </a:solidFill>
            </a:endParaRPr>
          </a:p>
          <a:p>
            <a:pPr indent="-419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b="1" lang="en-GB" sz="3000">
                <a:solidFill>
                  <a:srgbClr val="0070C0"/>
                </a:solidFill>
              </a:rPr>
              <a:t>Ethics Committee: </a:t>
            </a:r>
            <a:r>
              <a:rPr lang="en-GB" sz="3000">
                <a:solidFill>
                  <a:srgbClr val="0070C0"/>
                </a:solidFill>
              </a:rPr>
              <a:t>a</a:t>
            </a:r>
            <a:r>
              <a:rPr b="1" lang="en-GB" sz="3000">
                <a:solidFill>
                  <a:srgbClr val="0070C0"/>
                </a:solidFill>
              </a:rPr>
              <a:t> </a:t>
            </a:r>
            <a:r>
              <a:rPr lang="en-GB" sz="3000">
                <a:solidFill>
                  <a:srgbClr val="0070C0"/>
                </a:solidFill>
              </a:rPr>
              <a:t>group of independent, impartial, and multi-disciplinary individuals tasked with reviewing, advising, and guiding an organization on ethical issues. They promote ethical decision-making, maintain integrity, and protect the interests of stakeholders. They review the submission documents for a study, and pay extra attention to the ICFs.</a:t>
            </a:r>
            <a:endParaRPr sz="3000">
              <a:solidFill>
                <a:srgbClr val="0070C0"/>
              </a:solidFill>
            </a:endParaRPr>
          </a:p>
        </p:txBody>
      </p:sp>
      <p:pic>
        <p:nvPicPr>
          <p:cNvPr descr="BSPHO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38438" y="626356"/>
            <a:ext cx="1536267" cy="728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96F07"/>
              </a:buClr>
              <a:buSzPts val="4400"/>
              <a:buFont typeface="Calibri"/>
              <a:buNone/>
            </a:pPr>
            <a:r>
              <a:rPr b="1" lang="en-GB">
                <a:solidFill>
                  <a:srgbClr val="F96F07"/>
                </a:solidFill>
              </a:rPr>
              <a:t>The Main Stakeholders</a:t>
            </a:r>
            <a:endParaRPr/>
          </a:p>
        </p:txBody>
      </p:sp>
      <p:sp>
        <p:nvSpPr>
          <p:cNvPr id="123" name="Google Shape;123;p17"/>
          <p:cNvSpPr txBox="1"/>
          <p:nvPr>
            <p:ph idx="1" type="body"/>
          </p:nvPr>
        </p:nvSpPr>
        <p:spPr>
          <a:xfrm>
            <a:off x="838200" y="1690700"/>
            <a:ext cx="10515600" cy="46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9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b="1" lang="en-GB" sz="3000">
                <a:solidFill>
                  <a:srgbClr val="0070C0"/>
                </a:solidFill>
              </a:rPr>
              <a:t>National Coordinating Center</a:t>
            </a:r>
            <a:r>
              <a:rPr lang="en-GB" sz="3000">
                <a:solidFill>
                  <a:srgbClr val="0070C0"/>
                </a:solidFill>
              </a:rPr>
              <a:t> (NCC): the hospital who takes responsibility of the study within a country. The physician responsible at the national level, the Principal Investigator, is part of the NCC.</a:t>
            </a:r>
            <a:endParaRPr sz="3000">
              <a:solidFill>
                <a:srgbClr val="0070C0"/>
              </a:solidFill>
            </a:endParaRPr>
          </a:p>
          <a:p>
            <a:pPr indent="-419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b="1" lang="en-GB" sz="3000">
                <a:solidFill>
                  <a:srgbClr val="0070C0"/>
                </a:solidFill>
              </a:rPr>
              <a:t>Belgian Society for Paediatric Haemato-Oncology</a:t>
            </a:r>
            <a:r>
              <a:rPr lang="en-GB" sz="3000">
                <a:solidFill>
                  <a:srgbClr val="0070C0"/>
                </a:solidFill>
              </a:rPr>
              <a:t> (BSPHO): a non profit organisation collaborating with the 7 paediatric haemato-oncology centers in Belgium. They prepare the documents for submission to the ethics committee and competent authorities.</a:t>
            </a:r>
            <a:endParaRPr sz="3000"/>
          </a:p>
          <a:p>
            <a:pPr indent="-419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b="1" lang="en-GB" sz="3000">
                <a:solidFill>
                  <a:srgbClr val="0070C0"/>
                </a:solidFill>
              </a:rPr>
              <a:t>Participating sites</a:t>
            </a:r>
            <a:r>
              <a:rPr lang="en-GB" sz="3000">
                <a:solidFill>
                  <a:srgbClr val="0070C0"/>
                </a:solidFill>
              </a:rPr>
              <a:t>: hospital departments that participate in the study</a:t>
            </a:r>
            <a:endParaRPr sz="3000"/>
          </a:p>
        </p:txBody>
      </p:sp>
      <p:pic>
        <p:nvPicPr>
          <p:cNvPr descr="BSPHO" id="124" name="Google Shape;1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38438" y="626356"/>
            <a:ext cx="1536267" cy="728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96F07"/>
              </a:buClr>
              <a:buSzPts val="4400"/>
              <a:buFont typeface="Calibri"/>
              <a:buNone/>
            </a:pPr>
            <a:r>
              <a:rPr b="1" lang="en-GB">
                <a:solidFill>
                  <a:srgbClr val="F96F07"/>
                </a:solidFill>
              </a:rPr>
              <a:t>Adult ICF Creation</a:t>
            </a:r>
            <a:endParaRPr/>
          </a:p>
        </p:txBody>
      </p:sp>
      <p:sp>
        <p:nvSpPr>
          <p:cNvPr id="131" name="Google Shape;131;p18"/>
          <p:cNvSpPr txBox="1"/>
          <p:nvPr>
            <p:ph idx="1" type="body"/>
          </p:nvPr>
        </p:nvSpPr>
        <p:spPr>
          <a:xfrm>
            <a:off x="838200" y="1640525"/>
            <a:ext cx="10515600" cy="46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91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lang="en-GB" sz="3000">
                <a:solidFill>
                  <a:srgbClr val="0070C0"/>
                </a:solidFill>
              </a:rPr>
              <a:t>Uses a mandatory template specific to Belgium</a:t>
            </a:r>
            <a:endParaRPr sz="3000">
              <a:solidFill>
                <a:srgbClr val="0070C0"/>
              </a:solidFill>
            </a:endParaRPr>
          </a:p>
          <a:p>
            <a:pPr indent="-419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lang="en-GB" sz="3000">
                <a:solidFill>
                  <a:srgbClr val="0070C0"/>
                </a:solidFill>
              </a:rPr>
              <a:t>Consists of mandatory, modifiable, and optional parts</a:t>
            </a:r>
            <a:endParaRPr sz="3000">
              <a:solidFill>
                <a:srgbClr val="0070C0"/>
              </a:solidFill>
            </a:endParaRPr>
          </a:p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lang="en-GB" sz="3000">
                <a:solidFill>
                  <a:srgbClr val="0070C0"/>
                </a:solidFill>
              </a:rPr>
              <a:t>Must be drafted in English, Dutch and French</a:t>
            </a:r>
            <a:endParaRPr sz="3000">
              <a:solidFill>
                <a:srgbClr val="0070C0"/>
              </a:solidFill>
            </a:endParaRPr>
          </a:p>
          <a:p>
            <a:pPr indent="-419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lang="en-GB" sz="3000">
                <a:solidFill>
                  <a:srgbClr val="0070C0"/>
                </a:solidFill>
              </a:rPr>
              <a:t>The English version is sent to the Principal Investigator, manually amended if necessary, and then translated into Dutch and French for submission to the ethics committee</a:t>
            </a:r>
            <a:endParaRPr sz="3000">
              <a:solidFill>
                <a:srgbClr val="0070C0"/>
              </a:solidFill>
            </a:endParaRPr>
          </a:p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lang="en-GB" sz="3000">
                <a:solidFill>
                  <a:srgbClr val="0070C0"/>
                </a:solidFill>
              </a:rPr>
              <a:t>Based on documents provided by the study sponsor</a:t>
            </a:r>
            <a:endParaRPr sz="3000">
              <a:solidFill>
                <a:srgbClr val="0070C0"/>
              </a:solidFill>
            </a:endParaRPr>
          </a:p>
          <a:p>
            <a:pPr indent="-419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lang="en-GB" sz="3000">
                <a:solidFill>
                  <a:srgbClr val="0070C0"/>
                </a:solidFill>
              </a:rPr>
              <a:t>Can be </a:t>
            </a:r>
            <a:r>
              <a:rPr lang="en-GB" sz="3000">
                <a:solidFill>
                  <a:srgbClr val="0070C0"/>
                </a:solidFill>
              </a:rPr>
              <a:t>one or several documents</a:t>
            </a:r>
            <a:endParaRPr sz="3000">
              <a:solidFill>
                <a:srgbClr val="0070C0"/>
              </a:solidFill>
            </a:endParaRPr>
          </a:p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lang="en-GB" sz="3000">
                <a:solidFill>
                  <a:srgbClr val="0070C0"/>
                </a:solidFill>
              </a:rPr>
              <a:t>Amended with additional free-form administrative information</a:t>
            </a:r>
            <a:endParaRPr sz="3000">
              <a:solidFill>
                <a:srgbClr val="0070C0"/>
              </a:solidFill>
            </a:endParaRPr>
          </a:p>
          <a:p>
            <a:pPr indent="-419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lang="en-GB" sz="3000">
                <a:solidFill>
                  <a:srgbClr val="0070C0"/>
                </a:solidFill>
              </a:rPr>
              <a:t>E.g. insurance provider, responsible principal investigator</a:t>
            </a:r>
            <a:endParaRPr sz="3000"/>
          </a:p>
        </p:txBody>
      </p:sp>
      <p:pic>
        <p:nvPicPr>
          <p:cNvPr descr="BSPHO" id="132" name="Google Shape;1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38438" y="626356"/>
            <a:ext cx="1536267" cy="728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96F07"/>
              </a:buClr>
              <a:buSzPts val="4400"/>
              <a:buFont typeface="Calibri"/>
              <a:buNone/>
            </a:pPr>
            <a:r>
              <a:rPr b="1" lang="en-GB">
                <a:solidFill>
                  <a:srgbClr val="F96F07"/>
                </a:solidFill>
              </a:rPr>
              <a:t>The Belgian ICF Template</a:t>
            </a:r>
            <a:endParaRPr/>
          </a:p>
        </p:txBody>
      </p:sp>
      <p:sp>
        <p:nvSpPr>
          <p:cNvPr id="139" name="Google Shape;139;p19"/>
          <p:cNvSpPr txBox="1"/>
          <p:nvPr>
            <p:ph idx="1" type="body"/>
          </p:nvPr>
        </p:nvSpPr>
        <p:spPr>
          <a:xfrm>
            <a:off x="838200" y="1690700"/>
            <a:ext cx="10515600" cy="46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9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lang="en-GB" sz="3000">
                <a:solidFill>
                  <a:srgbClr val="0070C0"/>
                </a:solidFill>
              </a:rPr>
              <a:t>The mandatory Belgian template assumes commercial studies performed on adults and does not fully fit the context of paediatric academic studies</a:t>
            </a:r>
            <a:endParaRPr sz="3000">
              <a:solidFill>
                <a:srgbClr val="0070C0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Char char="•"/>
            </a:pPr>
            <a:r>
              <a:rPr lang="en-GB">
                <a:solidFill>
                  <a:srgbClr val="0070C0"/>
                </a:solidFill>
              </a:rPr>
              <a:t>Some adaptation of the mandatory text might be required</a:t>
            </a:r>
            <a:endParaRPr>
              <a:solidFill>
                <a:srgbClr val="0070C0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Char char="•"/>
            </a:pPr>
            <a:r>
              <a:rPr lang="en-GB">
                <a:solidFill>
                  <a:srgbClr val="0070C0"/>
                </a:solidFill>
              </a:rPr>
              <a:t>E.g. ICFs assume the study of a new molecule, whereas paediatric studies use existing molecules on a new target audience, namely minors</a:t>
            </a:r>
            <a:endParaRPr>
              <a:solidFill>
                <a:srgbClr val="0070C0"/>
              </a:solidFill>
            </a:endParaRPr>
          </a:p>
          <a:p>
            <a:pPr indent="-419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lang="en-GB" sz="3000">
                <a:solidFill>
                  <a:srgbClr val="0070C0"/>
                </a:solidFill>
              </a:rPr>
              <a:t>The template is very specific and must be adhered to in the three required languages, making direct translation infeasible</a:t>
            </a:r>
            <a:endParaRPr sz="3000">
              <a:solidFill>
                <a:srgbClr val="0070C0"/>
              </a:solidFill>
            </a:endParaRPr>
          </a:p>
          <a:p>
            <a:pPr indent="-419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lang="en-GB" sz="3000">
                <a:solidFill>
                  <a:srgbClr val="0070C0"/>
                </a:solidFill>
              </a:rPr>
              <a:t>40+ pages of template text and instructions, interleaved between each other, resulting in a complex document</a:t>
            </a:r>
            <a:endParaRPr sz="3000">
              <a:solidFill>
                <a:srgbClr val="0070C0"/>
              </a:solidFill>
            </a:endParaRPr>
          </a:p>
          <a:p>
            <a:pPr indent="-419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lang="en-GB" sz="3000">
                <a:solidFill>
                  <a:srgbClr val="0070C0"/>
                </a:solidFill>
              </a:rPr>
              <a:t>Changes over time, sometimes existing ICFs need to be updated</a:t>
            </a:r>
            <a:endParaRPr sz="3000">
              <a:solidFill>
                <a:srgbClr val="0070C0"/>
              </a:solidFill>
            </a:endParaRPr>
          </a:p>
        </p:txBody>
      </p:sp>
      <p:pic>
        <p:nvPicPr>
          <p:cNvPr descr="BSPHO" id="140" name="Google Shape;14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38438" y="626356"/>
            <a:ext cx="1536267" cy="728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96F07"/>
              </a:buClr>
              <a:buSzPts val="4400"/>
              <a:buFont typeface="Calibri"/>
              <a:buNone/>
            </a:pPr>
            <a:r>
              <a:rPr b="1" lang="en-GB">
                <a:solidFill>
                  <a:srgbClr val="F96F07"/>
                </a:solidFill>
              </a:rPr>
              <a:t>Parental ICF Creation</a:t>
            </a:r>
            <a:endParaRPr/>
          </a:p>
        </p:txBody>
      </p:sp>
      <p:sp>
        <p:nvSpPr>
          <p:cNvPr id="147" name="Google Shape;147;p20"/>
          <p:cNvSpPr txBox="1"/>
          <p:nvPr>
            <p:ph idx="1" type="body"/>
          </p:nvPr>
        </p:nvSpPr>
        <p:spPr>
          <a:xfrm>
            <a:off x="838200" y="1825625"/>
            <a:ext cx="10515600" cy="46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191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lang="en-GB" sz="3000">
                <a:solidFill>
                  <a:srgbClr val="0070C0"/>
                </a:solidFill>
              </a:rPr>
              <a:t>Adapted from the Adult ICF</a:t>
            </a:r>
            <a:endParaRPr sz="3000">
              <a:solidFill>
                <a:srgbClr val="0070C0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70C0"/>
              </a:solidFill>
            </a:endParaRPr>
          </a:p>
          <a:p>
            <a:pPr indent="-4191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lang="en-GB" sz="3000">
                <a:solidFill>
                  <a:srgbClr val="0070C0"/>
                </a:solidFill>
              </a:rPr>
              <a:t>Your disease, treatment, doctor </a:t>
            </a:r>
            <a:endParaRPr sz="3000">
              <a:solidFill>
                <a:srgbClr val="0070C0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70C0"/>
                </a:solidFill>
              </a:rPr>
              <a:t>🡪 Your child’s disease, treatment, doctor, …</a:t>
            </a:r>
            <a:endParaRPr sz="3000">
              <a:solidFill>
                <a:srgbClr val="0070C0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70C0"/>
              </a:solidFill>
            </a:endParaRPr>
          </a:p>
          <a:p>
            <a:pPr indent="-4191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lang="en-GB" sz="3000">
                <a:solidFill>
                  <a:srgbClr val="0070C0"/>
                </a:solidFill>
              </a:rPr>
              <a:t>I will adhere to a proper form of contraception </a:t>
            </a:r>
            <a:endParaRPr sz="3000">
              <a:solidFill>
                <a:srgbClr val="0070C0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70C0"/>
                </a:solidFill>
              </a:rPr>
              <a:t>🡪 I understand the importance of contraception and will inform my child adequately so he / she adheres to the recommendations</a:t>
            </a:r>
            <a:endParaRPr sz="3000">
              <a:solidFill>
                <a:srgbClr val="0070C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BSPHO" id="148" name="Google Shape;14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38438" y="626356"/>
            <a:ext cx="1536267" cy="728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96F07"/>
              </a:buClr>
              <a:buSzPts val="4400"/>
              <a:buFont typeface="Calibri"/>
              <a:buNone/>
            </a:pPr>
            <a:r>
              <a:rPr b="1" lang="en-GB">
                <a:solidFill>
                  <a:srgbClr val="F96F07"/>
                </a:solidFill>
              </a:rPr>
              <a:t>Adolescent ICF Creation</a:t>
            </a:r>
            <a:endParaRPr/>
          </a:p>
        </p:txBody>
      </p:sp>
      <p:sp>
        <p:nvSpPr>
          <p:cNvPr id="155" name="Google Shape;155;p21"/>
          <p:cNvSpPr txBox="1"/>
          <p:nvPr>
            <p:ph idx="1" type="body"/>
          </p:nvPr>
        </p:nvSpPr>
        <p:spPr>
          <a:xfrm>
            <a:off x="838200" y="2155575"/>
            <a:ext cx="10515600" cy="46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000"/>
              <a:buFont typeface="Calibri"/>
              <a:buChar char="•"/>
            </a:pPr>
            <a:r>
              <a:rPr lang="en-GB" sz="3000">
                <a:solidFill>
                  <a:srgbClr val="0070C0"/>
                </a:solidFill>
              </a:rPr>
              <a:t>Adapted from the adolescent ICF provided by the sponsor, using a template from the Health, Innovation and Research Institute at UZ Gent (HIRUZ)</a:t>
            </a:r>
            <a:endParaRPr sz="3000">
              <a:solidFill>
                <a:srgbClr val="0070C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70C0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lang="en-GB" sz="3000">
                <a:solidFill>
                  <a:srgbClr val="0070C0"/>
                </a:solidFill>
              </a:rPr>
              <a:t>Contains simplified language, adapted to 12-17 year olds</a:t>
            </a:r>
            <a:endParaRPr sz="3000">
              <a:solidFill>
                <a:srgbClr val="0070C0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lang="en-GB" sz="3000">
                <a:solidFill>
                  <a:srgbClr val="0070C0"/>
                </a:solidFill>
              </a:rPr>
              <a:t>More informal in nature, omitting administrative information</a:t>
            </a:r>
            <a:endParaRPr/>
          </a:p>
        </p:txBody>
      </p:sp>
      <p:pic>
        <p:nvPicPr>
          <p:cNvPr descr="BSPHO" id="156" name="Google Shape;15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38438" y="626356"/>
            <a:ext cx="1536267" cy="728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96F07"/>
              </a:buClr>
              <a:buSzPts val="4400"/>
              <a:buFont typeface="Calibri"/>
              <a:buNone/>
            </a:pPr>
            <a:r>
              <a:rPr b="1" lang="en-GB">
                <a:solidFill>
                  <a:srgbClr val="F96F07"/>
                </a:solidFill>
              </a:rPr>
              <a:t>Children’s ICF Creation</a:t>
            </a:r>
            <a:endParaRPr/>
          </a:p>
        </p:txBody>
      </p:sp>
      <p:pic>
        <p:nvPicPr>
          <p:cNvPr descr="BSPHO" id="163" name="Google Shape;16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38438" y="626356"/>
            <a:ext cx="1536267" cy="72831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2"/>
          <p:cNvSpPr txBox="1"/>
          <p:nvPr>
            <p:ph idx="1" type="body"/>
          </p:nvPr>
        </p:nvSpPr>
        <p:spPr>
          <a:xfrm>
            <a:off x="838200" y="1978525"/>
            <a:ext cx="10515600" cy="46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000"/>
              <a:buFont typeface="Calibri"/>
              <a:buChar char="•"/>
            </a:pPr>
            <a:r>
              <a:rPr lang="en-GB" sz="3000">
                <a:solidFill>
                  <a:srgbClr val="0070C0"/>
                </a:solidFill>
              </a:rPr>
              <a:t>Adapted from the children’s ICF provided by the sponsor, using a template from HIRUZ</a:t>
            </a:r>
            <a:br>
              <a:rPr lang="en-GB" sz="3000">
                <a:solidFill>
                  <a:srgbClr val="0070C0"/>
                </a:solidFill>
              </a:rPr>
            </a:br>
            <a:endParaRPr sz="3000">
              <a:solidFill>
                <a:srgbClr val="0070C0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lang="en-GB" sz="3000">
                <a:solidFill>
                  <a:srgbClr val="0070C0"/>
                </a:solidFill>
              </a:rPr>
              <a:t>Contains simplified language, adapted to 8-11 year olds</a:t>
            </a:r>
            <a:endParaRPr sz="3000">
              <a:solidFill>
                <a:srgbClr val="0070C0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lang="en-GB" sz="3000">
                <a:solidFill>
                  <a:srgbClr val="0070C0"/>
                </a:solidFill>
              </a:rPr>
              <a:t>More informal in nature, omitting administrative information</a:t>
            </a:r>
            <a:endParaRPr sz="3000">
              <a:solidFill>
                <a:srgbClr val="0070C0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lang="en-GB" sz="3000">
                <a:solidFill>
                  <a:srgbClr val="0070C0"/>
                </a:solidFill>
              </a:rPr>
              <a:t>Includes explanatory, age appropriate illustrations </a:t>
            </a:r>
            <a:endParaRPr sz="3000">
              <a:solidFill>
                <a:srgbClr val="0070C0"/>
              </a:solidFill>
            </a:endParaRPr>
          </a:p>
        </p:txBody>
      </p:sp>
      <p:grpSp>
        <p:nvGrpSpPr>
          <p:cNvPr id="165" name="Google Shape;165;p22"/>
          <p:cNvGrpSpPr/>
          <p:nvPr/>
        </p:nvGrpSpPr>
        <p:grpSpPr>
          <a:xfrm>
            <a:off x="3366275" y="5429700"/>
            <a:ext cx="5459450" cy="1260586"/>
            <a:chOff x="3459575" y="5429700"/>
            <a:chExt cx="5459450" cy="1260586"/>
          </a:xfrm>
        </p:grpSpPr>
        <p:pic>
          <p:nvPicPr>
            <p:cNvPr descr="Afbeelding met schermopname, ontwerp&#10;&#10;Automatisch gegenereerde beschrijving" id="166" name="Google Shape;166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459575" y="5429700"/>
              <a:ext cx="1184050" cy="1184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fbeelding met clipart, Graphics, grafische vormgeving, ontwerp&#10;&#10;Automatisch gegenereerde beschrijving" id="167" name="Google Shape;167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859200" y="5429700"/>
              <a:ext cx="1184050" cy="1184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fbeelding met clipart, tekenfilm, illustratie, ontwerp&#10;&#10;Beschrijving automatisch gegenereerd met gemiddelde betrouwbaarheid" id="168" name="Google Shape;168;p2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258825" y="5429700"/>
              <a:ext cx="1184050" cy="1260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fbeelding met cirkel, clipart, illustratie&#10;&#10;Automatisch gegenereerde beschrijving" id="169" name="Google Shape;169;p2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658450" y="5429700"/>
              <a:ext cx="1260575" cy="12605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96F07"/>
              </a:buClr>
              <a:buSzPts val="4400"/>
              <a:buFont typeface="Calibri"/>
              <a:buNone/>
            </a:pPr>
            <a:r>
              <a:rPr b="1" lang="en-GB">
                <a:solidFill>
                  <a:srgbClr val="F96F07"/>
                </a:solidFill>
              </a:rPr>
              <a:t>ICF Types Overview</a:t>
            </a:r>
            <a:endParaRPr/>
          </a:p>
        </p:txBody>
      </p:sp>
      <p:pic>
        <p:nvPicPr>
          <p:cNvPr descr="BSPHO" id="176" name="Google Shape;17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38438" y="626356"/>
            <a:ext cx="1536267" cy="7283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7" name="Google Shape;177;p23"/>
          <p:cNvGrpSpPr/>
          <p:nvPr/>
        </p:nvGrpSpPr>
        <p:grpSpPr>
          <a:xfrm>
            <a:off x="2033488" y="1889211"/>
            <a:ext cx="8125023" cy="4062511"/>
            <a:chOff x="1488" y="678077"/>
            <a:chExt cx="8125023" cy="4062511"/>
          </a:xfrm>
        </p:grpSpPr>
        <p:sp>
          <p:nvSpPr>
            <p:cNvPr id="178" name="Google Shape;178;p23"/>
            <p:cNvSpPr/>
            <p:nvPr/>
          </p:nvSpPr>
          <p:spPr>
            <a:xfrm>
              <a:off x="1488" y="678077"/>
              <a:ext cx="1710531" cy="855265"/>
            </a:xfrm>
            <a:prstGeom prst="roundRect">
              <a:avLst>
                <a:gd fmla="val 10000" name="adj"/>
              </a:avLst>
            </a:prstGeom>
            <a:solidFill>
              <a:srgbClr val="5998D4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3"/>
            <p:cNvSpPr txBox="1"/>
            <p:nvPr/>
          </p:nvSpPr>
          <p:spPr>
            <a:xfrm>
              <a:off x="26538" y="703127"/>
              <a:ext cx="1660431" cy="8051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000" lIns="49525" spcFirstLastPara="1" rIns="49525" wrap="square" tIns="33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n-GB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Adult ICF</a:t>
              </a:r>
              <a:endParaRPr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23"/>
            <p:cNvSpPr/>
            <p:nvPr/>
          </p:nvSpPr>
          <p:spPr>
            <a:xfrm>
              <a:off x="172541" y="1533343"/>
              <a:ext cx="171053" cy="641449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rgbClr val="487AA8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81" name="Google Shape;181;p23"/>
            <p:cNvSpPr/>
            <p:nvPr/>
          </p:nvSpPr>
          <p:spPr>
            <a:xfrm>
              <a:off x="343594" y="1747159"/>
              <a:ext cx="1368424" cy="855265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90196"/>
              </a:schemeClr>
            </a:solidFill>
            <a:ln cap="flat" cmpd="sng" w="12700">
              <a:solidFill>
                <a:srgbClr val="5998D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3"/>
            <p:cNvSpPr txBox="1"/>
            <p:nvPr/>
          </p:nvSpPr>
          <p:spPr>
            <a:xfrm>
              <a:off x="368644" y="1772209"/>
              <a:ext cx="1318324" cy="8051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32375" spcFirstLastPara="1" rIns="323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GB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Official template</a:t>
              </a:r>
              <a:endParaRPr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23"/>
            <p:cNvSpPr/>
            <p:nvPr/>
          </p:nvSpPr>
          <p:spPr>
            <a:xfrm>
              <a:off x="172541" y="1533343"/>
              <a:ext cx="171053" cy="1710531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rgbClr val="487AA8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84" name="Google Shape;184;p23"/>
            <p:cNvSpPr/>
            <p:nvPr/>
          </p:nvSpPr>
          <p:spPr>
            <a:xfrm>
              <a:off x="343594" y="2816241"/>
              <a:ext cx="1368424" cy="855265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90196"/>
              </a:schemeClr>
            </a:solidFill>
            <a:ln cap="flat" cmpd="sng" w="12700">
              <a:solidFill>
                <a:srgbClr val="5998D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3"/>
            <p:cNvSpPr txBox="1"/>
            <p:nvPr/>
          </p:nvSpPr>
          <p:spPr>
            <a:xfrm>
              <a:off x="368644" y="2841291"/>
              <a:ext cx="1318324" cy="8051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32375" spcFirstLastPara="1" rIns="323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GB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Sponsor documents</a:t>
              </a:r>
              <a:endParaRPr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23"/>
            <p:cNvSpPr/>
            <p:nvPr/>
          </p:nvSpPr>
          <p:spPr>
            <a:xfrm>
              <a:off x="172541" y="1533343"/>
              <a:ext cx="171053" cy="2779613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rgbClr val="487AA8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87" name="Google Shape;187;p23"/>
            <p:cNvSpPr/>
            <p:nvPr/>
          </p:nvSpPr>
          <p:spPr>
            <a:xfrm>
              <a:off x="343594" y="3885323"/>
              <a:ext cx="1368424" cy="855265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90196"/>
              </a:schemeClr>
            </a:solidFill>
            <a:ln cap="flat" cmpd="sng" w="12700">
              <a:solidFill>
                <a:srgbClr val="5998D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3"/>
            <p:cNvSpPr txBox="1"/>
            <p:nvPr/>
          </p:nvSpPr>
          <p:spPr>
            <a:xfrm>
              <a:off x="368644" y="3910373"/>
              <a:ext cx="1318324" cy="8051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32375" spcFirstLastPara="1" rIns="323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GB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Supplemental information</a:t>
              </a:r>
              <a:endParaRPr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23"/>
            <p:cNvSpPr/>
            <p:nvPr/>
          </p:nvSpPr>
          <p:spPr>
            <a:xfrm>
              <a:off x="2139652" y="678077"/>
              <a:ext cx="1710531" cy="855265"/>
            </a:xfrm>
            <a:prstGeom prst="roundRect">
              <a:avLst>
                <a:gd fmla="val 10000" name="adj"/>
              </a:avLst>
            </a:prstGeom>
            <a:solidFill>
              <a:schemeClr val="accent2"/>
            </a:solidFill>
            <a:ln cap="flat" cmpd="sng" w="12700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3"/>
            <p:cNvSpPr txBox="1"/>
            <p:nvPr/>
          </p:nvSpPr>
          <p:spPr>
            <a:xfrm>
              <a:off x="2164702" y="703127"/>
              <a:ext cx="1660431" cy="8051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000" lIns="49525" spcFirstLastPara="1" rIns="49525" wrap="square" tIns="33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n-GB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Parental ICF</a:t>
              </a:r>
              <a:endParaRPr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23"/>
            <p:cNvSpPr/>
            <p:nvPr/>
          </p:nvSpPr>
          <p:spPr>
            <a:xfrm>
              <a:off x="2310705" y="1533343"/>
              <a:ext cx="171053" cy="641449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92" name="Google Shape;192;p23"/>
            <p:cNvSpPr/>
            <p:nvPr/>
          </p:nvSpPr>
          <p:spPr>
            <a:xfrm>
              <a:off x="2481758" y="1747159"/>
              <a:ext cx="1368424" cy="855265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90196"/>
              </a:schemeClr>
            </a:solidFill>
            <a:ln cap="flat" cmpd="sng" w="12700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3"/>
            <p:cNvSpPr txBox="1"/>
            <p:nvPr/>
          </p:nvSpPr>
          <p:spPr>
            <a:xfrm>
              <a:off x="2506808" y="1772209"/>
              <a:ext cx="1318324" cy="8051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32375" spcFirstLastPara="1" rIns="323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GB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Adult ICF</a:t>
              </a:r>
              <a:endParaRPr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23"/>
            <p:cNvSpPr/>
            <p:nvPr/>
          </p:nvSpPr>
          <p:spPr>
            <a:xfrm>
              <a:off x="2310705" y="1533343"/>
              <a:ext cx="171053" cy="1710531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95" name="Google Shape;195;p23"/>
            <p:cNvSpPr/>
            <p:nvPr/>
          </p:nvSpPr>
          <p:spPr>
            <a:xfrm>
              <a:off x="2481758" y="2816241"/>
              <a:ext cx="1368424" cy="855265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90196"/>
              </a:schemeClr>
            </a:solidFill>
            <a:ln cap="flat" cmpd="sng" w="12700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3"/>
            <p:cNvSpPr txBox="1"/>
            <p:nvPr/>
          </p:nvSpPr>
          <p:spPr>
            <a:xfrm>
              <a:off x="2506808" y="2841291"/>
              <a:ext cx="1318324" cy="8051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32375" spcFirstLastPara="1" rIns="323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GB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Adaptation from “you” to “your child”</a:t>
              </a:r>
              <a:endParaRPr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23"/>
            <p:cNvSpPr/>
            <p:nvPr/>
          </p:nvSpPr>
          <p:spPr>
            <a:xfrm>
              <a:off x="4277816" y="678077"/>
              <a:ext cx="1710531" cy="855265"/>
            </a:xfrm>
            <a:prstGeom prst="roundRect">
              <a:avLst>
                <a:gd fmla="val 10000" name="adj"/>
              </a:avLst>
            </a:prstGeom>
            <a:solidFill>
              <a:schemeClr val="accent6"/>
            </a:solidFill>
            <a:ln cap="flat" cmpd="sng" w="12700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3"/>
            <p:cNvSpPr txBox="1"/>
            <p:nvPr/>
          </p:nvSpPr>
          <p:spPr>
            <a:xfrm>
              <a:off x="4302866" y="703127"/>
              <a:ext cx="1660431" cy="8051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000" lIns="49525" spcFirstLastPara="1" rIns="49525" wrap="square" tIns="33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n-GB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Adolescent ICF</a:t>
              </a:r>
              <a:endParaRPr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23"/>
            <p:cNvSpPr/>
            <p:nvPr/>
          </p:nvSpPr>
          <p:spPr>
            <a:xfrm>
              <a:off x="4448869" y="1533343"/>
              <a:ext cx="171053" cy="641449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00" name="Google Shape;200;p23"/>
            <p:cNvSpPr/>
            <p:nvPr/>
          </p:nvSpPr>
          <p:spPr>
            <a:xfrm>
              <a:off x="4619922" y="1747159"/>
              <a:ext cx="1368424" cy="855265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90196"/>
              </a:schemeClr>
            </a:solidFill>
            <a:ln cap="flat" cmpd="sng" w="12700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3"/>
            <p:cNvSpPr txBox="1"/>
            <p:nvPr/>
          </p:nvSpPr>
          <p:spPr>
            <a:xfrm>
              <a:off x="4644972" y="1772209"/>
              <a:ext cx="1318324" cy="8051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32375" spcFirstLastPara="1" rIns="323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GB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HIRUZ Adolescent Template</a:t>
              </a:r>
              <a:endParaRPr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23"/>
            <p:cNvSpPr/>
            <p:nvPr/>
          </p:nvSpPr>
          <p:spPr>
            <a:xfrm>
              <a:off x="4448869" y="1533343"/>
              <a:ext cx="171053" cy="1710531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03" name="Google Shape;203;p23"/>
            <p:cNvSpPr/>
            <p:nvPr/>
          </p:nvSpPr>
          <p:spPr>
            <a:xfrm>
              <a:off x="4619922" y="2816241"/>
              <a:ext cx="1368424" cy="855265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90196"/>
              </a:schemeClr>
            </a:solidFill>
            <a:ln cap="flat" cmpd="sng" w="12700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3"/>
            <p:cNvSpPr txBox="1"/>
            <p:nvPr/>
          </p:nvSpPr>
          <p:spPr>
            <a:xfrm>
              <a:off x="4644972" y="2841291"/>
              <a:ext cx="1318324" cy="8051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32375" spcFirstLastPara="1" rIns="323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GB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Sponsor’s </a:t>
              </a:r>
              <a:r>
                <a:rPr lang="en-GB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Adolescent ICF</a:t>
              </a:r>
              <a:endParaRPr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23"/>
            <p:cNvSpPr/>
            <p:nvPr/>
          </p:nvSpPr>
          <p:spPr>
            <a:xfrm>
              <a:off x="6415980" y="678077"/>
              <a:ext cx="1710531" cy="855265"/>
            </a:xfrm>
            <a:prstGeom prst="roundRect">
              <a:avLst>
                <a:gd fmla="val 10000" name="adj"/>
              </a:avLst>
            </a:prstGeom>
            <a:solidFill>
              <a:schemeClr val="accent4"/>
            </a:solidFill>
            <a:ln cap="flat" cmpd="sng" w="12700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3"/>
            <p:cNvSpPr txBox="1"/>
            <p:nvPr/>
          </p:nvSpPr>
          <p:spPr>
            <a:xfrm>
              <a:off x="6441030" y="703127"/>
              <a:ext cx="1660431" cy="8051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000" lIns="49525" spcFirstLastPara="1" rIns="49525" wrap="square" tIns="33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n-GB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Children’s ICF</a:t>
              </a:r>
              <a:endParaRPr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23"/>
            <p:cNvSpPr/>
            <p:nvPr/>
          </p:nvSpPr>
          <p:spPr>
            <a:xfrm>
              <a:off x="6587033" y="1533343"/>
              <a:ext cx="171053" cy="641449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08" name="Google Shape;208;p23"/>
            <p:cNvSpPr/>
            <p:nvPr/>
          </p:nvSpPr>
          <p:spPr>
            <a:xfrm>
              <a:off x="6758086" y="1747159"/>
              <a:ext cx="1368424" cy="855265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90196"/>
              </a:schemeClr>
            </a:solidFill>
            <a:ln cap="flat" cmpd="sng" w="12700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3"/>
            <p:cNvSpPr txBox="1"/>
            <p:nvPr/>
          </p:nvSpPr>
          <p:spPr>
            <a:xfrm>
              <a:off x="6783136" y="1772209"/>
              <a:ext cx="1318324" cy="8051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32375" spcFirstLastPara="1" rIns="323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GB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HIRUZ </a:t>
              </a:r>
              <a:endParaRPr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GB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Children’s Template</a:t>
              </a:r>
              <a:endParaRPr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23"/>
            <p:cNvSpPr/>
            <p:nvPr/>
          </p:nvSpPr>
          <p:spPr>
            <a:xfrm>
              <a:off x="6587033" y="1533343"/>
              <a:ext cx="171053" cy="1710531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11" name="Google Shape;211;p23"/>
            <p:cNvSpPr/>
            <p:nvPr/>
          </p:nvSpPr>
          <p:spPr>
            <a:xfrm>
              <a:off x="6758086" y="2816241"/>
              <a:ext cx="1368424" cy="855265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90196"/>
              </a:schemeClr>
            </a:solidFill>
            <a:ln cap="flat" cmpd="sng" w="12700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3"/>
            <p:cNvSpPr txBox="1"/>
            <p:nvPr/>
          </p:nvSpPr>
          <p:spPr>
            <a:xfrm>
              <a:off x="6783136" y="2841291"/>
              <a:ext cx="1318324" cy="8051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32375" spcFirstLastPara="1" rIns="323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GB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Sponsor’s Children’s </a:t>
              </a:r>
              <a:r>
                <a:rPr lang="en-GB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ICF</a:t>
              </a:r>
              <a:endParaRPr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96F07"/>
              </a:buClr>
              <a:buSzPts val="4400"/>
              <a:buFont typeface="Calibri"/>
              <a:buNone/>
            </a:pPr>
            <a:r>
              <a:rPr b="1" lang="en-GB">
                <a:solidFill>
                  <a:srgbClr val="F96F07"/>
                </a:solidFill>
              </a:rPr>
              <a:t>Desired Flow</a:t>
            </a:r>
            <a:endParaRPr/>
          </a:p>
        </p:txBody>
      </p:sp>
      <p:pic>
        <p:nvPicPr>
          <p:cNvPr descr="BSPHO" id="219" name="Google Shape;21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38438" y="626356"/>
            <a:ext cx="1536267" cy="728311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4"/>
          <p:cNvSpPr/>
          <p:nvPr/>
        </p:nvSpPr>
        <p:spPr>
          <a:xfrm>
            <a:off x="1300475" y="1940300"/>
            <a:ext cx="1971600" cy="917400"/>
          </a:xfrm>
          <a:prstGeom prst="roundRect">
            <a:avLst>
              <a:gd fmla="val 16667" name="adj"/>
            </a:avLst>
          </a:prstGeom>
          <a:solidFill>
            <a:srgbClr val="A6D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Receive sponsor documents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4"/>
          <p:cNvSpPr/>
          <p:nvPr/>
        </p:nvSpPr>
        <p:spPr>
          <a:xfrm>
            <a:off x="3762500" y="1940300"/>
            <a:ext cx="1971600" cy="9174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Create English ICFs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4"/>
          <p:cNvSpPr/>
          <p:nvPr/>
        </p:nvSpPr>
        <p:spPr>
          <a:xfrm>
            <a:off x="6224525" y="1940325"/>
            <a:ext cx="1971600" cy="91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Review by Principal Investigator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4"/>
          <p:cNvSpPr/>
          <p:nvPr/>
        </p:nvSpPr>
        <p:spPr>
          <a:xfrm>
            <a:off x="8686550" y="1940325"/>
            <a:ext cx="1971600" cy="917400"/>
          </a:xfrm>
          <a:prstGeom prst="roundRect">
            <a:avLst>
              <a:gd fmla="val 16667" name="adj"/>
            </a:avLst>
          </a:prstGeom>
          <a:solidFill>
            <a:srgbClr val="A6D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Adjustments based on feedback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4"/>
          <p:cNvSpPr/>
          <p:nvPr/>
        </p:nvSpPr>
        <p:spPr>
          <a:xfrm>
            <a:off x="1300475" y="3286213"/>
            <a:ext cx="1971600" cy="9174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Translate EN ICFs into FR &amp; NL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4"/>
          <p:cNvSpPr/>
          <p:nvPr/>
        </p:nvSpPr>
        <p:spPr>
          <a:xfrm>
            <a:off x="3879188" y="4988175"/>
            <a:ext cx="1971600" cy="917400"/>
          </a:xfrm>
          <a:prstGeom prst="roundRect">
            <a:avLst>
              <a:gd fmla="val 16667" name="adj"/>
            </a:avLst>
          </a:prstGeom>
          <a:solidFill>
            <a:srgbClr val="A6D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Upload new version of templates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4"/>
          <p:cNvSpPr/>
          <p:nvPr/>
        </p:nvSpPr>
        <p:spPr>
          <a:xfrm>
            <a:off x="6341213" y="4988175"/>
            <a:ext cx="1971600" cy="9174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Update previously created ICFs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24"/>
          <p:cNvCxnSpPr>
            <a:stCxn id="220" idx="3"/>
            <a:endCxn id="221" idx="1"/>
          </p:cNvCxnSpPr>
          <p:nvPr/>
        </p:nvCxnSpPr>
        <p:spPr>
          <a:xfrm>
            <a:off x="3272075" y="2399000"/>
            <a:ext cx="490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" name="Google Shape;228;p24"/>
          <p:cNvCxnSpPr>
            <a:stCxn id="221" idx="3"/>
            <a:endCxn id="229" idx="1"/>
          </p:cNvCxnSpPr>
          <p:nvPr/>
        </p:nvCxnSpPr>
        <p:spPr>
          <a:xfrm>
            <a:off x="5734100" y="2399000"/>
            <a:ext cx="490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" name="Google Shape;230;p24"/>
          <p:cNvCxnSpPr>
            <a:stCxn id="225" idx="3"/>
            <a:endCxn id="226" idx="1"/>
          </p:cNvCxnSpPr>
          <p:nvPr/>
        </p:nvCxnSpPr>
        <p:spPr>
          <a:xfrm>
            <a:off x="5850788" y="5446875"/>
            <a:ext cx="490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" name="Google Shape;231;p24"/>
          <p:cNvCxnSpPr/>
          <p:nvPr/>
        </p:nvCxnSpPr>
        <p:spPr>
          <a:xfrm>
            <a:off x="1191400" y="4705950"/>
            <a:ext cx="9914700" cy="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232" name="Google Shape;232;p24"/>
          <p:cNvGrpSpPr/>
          <p:nvPr/>
        </p:nvGrpSpPr>
        <p:grpSpPr>
          <a:xfrm>
            <a:off x="10032275" y="5670250"/>
            <a:ext cx="2148600" cy="948450"/>
            <a:chOff x="280800" y="5766825"/>
            <a:chExt cx="2148600" cy="948450"/>
          </a:xfrm>
        </p:grpSpPr>
        <p:sp>
          <p:nvSpPr>
            <p:cNvPr id="233" name="Google Shape;233;p24"/>
            <p:cNvSpPr/>
            <p:nvPr/>
          </p:nvSpPr>
          <p:spPr>
            <a:xfrm>
              <a:off x="280800" y="5766825"/>
              <a:ext cx="257400" cy="257400"/>
            </a:xfrm>
            <a:prstGeom prst="ellipse">
              <a:avLst/>
            </a:prstGeom>
            <a:solidFill>
              <a:srgbClr val="A6D7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24"/>
            <p:cNvSpPr txBox="1"/>
            <p:nvPr/>
          </p:nvSpPr>
          <p:spPr>
            <a:xfrm>
              <a:off x="538200" y="5766825"/>
              <a:ext cx="1891200" cy="2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43434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BSPHO, manual</a:t>
              </a:r>
              <a:endParaRPr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235" name="Google Shape;235;p24"/>
            <p:cNvSpPr/>
            <p:nvPr/>
          </p:nvSpPr>
          <p:spPr>
            <a:xfrm>
              <a:off x="280800" y="6112350"/>
              <a:ext cx="257400" cy="2574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24"/>
            <p:cNvSpPr txBox="1"/>
            <p:nvPr/>
          </p:nvSpPr>
          <p:spPr>
            <a:xfrm>
              <a:off x="538200" y="6112350"/>
              <a:ext cx="1642500" cy="2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43434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Application</a:t>
              </a:r>
              <a:endParaRPr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237" name="Google Shape;237;p24"/>
            <p:cNvSpPr/>
            <p:nvPr/>
          </p:nvSpPr>
          <p:spPr>
            <a:xfrm>
              <a:off x="280800" y="6457875"/>
              <a:ext cx="257400" cy="257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24"/>
            <p:cNvSpPr txBox="1"/>
            <p:nvPr/>
          </p:nvSpPr>
          <p:spPr>
            <a:xfrm>
              <a:off x="538200" y="6457875"/>
              <a:ext cx="1642500" cy="2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43434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External</a:t>
              </a:r>
              <a:endParaRPr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sp>
        <p:nvSpPr>
          <p:cNvPr id="239" name="Google Shape;239;p24"/>
          <p:cNvSpPr/>
          <p:nvPr/>
        </p:nvSpPr>
        <p:spPr>
          <a:xfrm>
            <a:off x="3762500" y="3286200"/>
            <a:ext cx="1971600" cy="91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Review by Ethics Committee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6224525" y="3286225"/>
            <a:ext cx="1971600" cy="917400"/>
          </a:xfrm>
          <a:prstGeom prst="roundRect">
            <a:avLst>
              <a:gd fmla="val 16667" name="adj"/>
            </a:avLst>
          </a:prstGeom>
          <a:solidFill>
            <a:srgbClr val="A6D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Adjustments based on feedback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8686550" y="3286225"/>
            <a:ext cx="1971600" cy="91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Approval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p24"/>
          <p:cNvCxnSpPr>
            <a:stCxn id="222" idx="3"/>
            <a:endCxn id="223" idx="1"/>
          </p:cNvCxnSpPr>
          <p:nvPr/>
        </p:nvCxnSpPr>
        <p:spPr>
          <a:xfrm>
            <a:off x="8196125" y="2399025"/>
            <a:ext cx="490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3" name="Google Shape;243;p24"/>
          <p:cNvCxnSpPr>
            <a:stCxn id="223" idx="0"/>
            <a:endCxn id="222" idx="0"/>
          </p:cNvCxnSpPr>
          <p:nvPr/>
        </p:nvCxnSpPr>
        <p:spPr>
          <a:xfrm rot="5400000">
            <a:off x="8441000" y="709575"/>
            <a:ext cx="600" cy="24621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" name="Google Shape;244;p24"/>
          <p:cNvCxnSpPr>
            <a:stCxn id="223" idx="3"/>
            <a:endCxn id="224" idx="1"/>
          </p:cNvCxnSpPr>
          <p:nvPr/>
        </p:nvCxnSpPr>
        <p:spPr>
          <a:xfrm flipH="1">
            <a:off x="1300550" y="2399025"/>
            <a:ext cx="9357600" cy="1345800"/>
          </a:xfrm>
          <a:prstGeom prst="bentConnector5">
            <a:avLst>
              <a:gd fmla="val -2545" name="adj1"/>
              <a:gd fmla="val 42062" name="adj2"/>
              <a:gd fmla="val 102546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5" name="Google Shape;245;p24"/>
          <p:cNvCxnSpPr>
            <a:stCxn id="224" idx="3"/>
            <a:endCxn id="239" idx="1"/>
          </p:cNvCxnSpPr>
          <p:nvPr/>
        </p:nvCxnSpPr>
        <p:spPr>
          <a:xfrm>
            <a:off x="3272075" y="3744913"/>
            <a:ext cx="490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" name="Google Shape;246;p24"/>
          <p:cNvCxnSpPr>
            <a:stCxn id="239" idx="3"/>
            <a:endCxn id="240" idx="1"/>
          </p:cNvCxnSpPr>
          <p:nvPr/>
        </p:nvCxnSpPr>
        <p:spPr>
          <a:xfrm>
            <a:off x="5734100" y="3744900"/>
            <a:ext cx="490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" name="Google Shape;247;p24"/>
          <p:cNvCxnSpPr>
            <a:stCxn id="240" idx="0"/>
            <a:endCxn id="239" idx="0"/>
          </p:cNvCxnSpPr>
          <p:nvPr/>
        </p:nvCxnSpPr>
        <p:spPr>
          <a:xfrm rot="5400000">
            <a:off x="5978975" y="2055475"/>
            <a:ext cx="600" cy="2462100"/>
          </a:xfrm>
          <a:prstGeom prst="bentConnector3">
            <a:avLst>
              <a:gd fmla="val -2364166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8" name="Google Shape;248;p24"/>
          <p:cNvCxnSpPr>
            <a:stCxn id="239" idx="2"/>
            <a:endCxn id="241" idx="2"/>
          </p:cNvCxnSpPr>
          <p:nvPr/>
        </p:nvCxnSpPr>
        <p:spPr>
          <a:xfrm flipH="1" rot="-5400000">
            <a:off x="7210100" y="1741800"/>
            <a:ext cx="600" cy="4924200"/>
          </a:xfrm>
          <a:prstGeom prst="bentConnector3">
            <a:avLst>
              <a:gd fmla="val 3969166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96F07"/>
              </a:buClr>
              <a:buSzPts val="4400"/>
              <a:buFont typeface="Calibri"/>
              <a:buNone/>
            </a:pPr>
            <a:r>
              <a:rPr b="1" lang="en-GB">
                <a:solidFill>
                  <a:srgbClr val="F96F07"/>
                </a:solidFill>
              </a:rPr>
              <a:t>Solution Analysis: Must Have</a:t>
            </a:r>
            <a:endParaRPr/>
          </a:p>
        </p:txBody>
      </p:sp>
      <p:sp>
        <p:nvSpPr>
          <p:cNvPr id="255" name="Google Shape;255;p25"/>
          <p:cNvSpPr txBox="1"/>
          <p:nvPr>
            <p:ph idx="1" type="body"/>
          </p:nvPr>
        </p:nvSpPr>
        <p:spPr>
          <a:xfrm>
            <a:off x="838200" y="1948350"/>
            <a:ext cx="10515600" cy="46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8608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GB" sz="3200">
                <a:solidFill>
                  <a:srgbClr val="0070C0"/>
                </a:solidFill>
              </a:rPr>
              <a:t>Web application, ready to deploy in various environments</a:t>
            </a:r>
            <a:endParaRPr sz="3200">
              <a:solidFill>
                <a:srgbClr val="0070C0"/>
              </a:solidFill>
            </a:endParaRPr>
          </a:p>
          <a:p>
            <a:pPr indent="-3860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GB" sz="3200">
                <a:solidFill>
                  <a:srgbClr val="0070C0"/>
                </a:solidFill>
              </a:rPr>
              <a:t>Contains ICF templates, with the option to upload new versions</a:t>
            </a:r>
            <a:endParaRPr sz="3200">
              <a:solidFill>
                <a:srgbClr val="0070C0"/>
              </a:solidFill>
            </a:endParaRPr>
          </a:p>
          <a:p>
            <a:pPr indent="-3860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GB" sz="3200">
                <a:solidFill>
                  <a:srgbClr val="0070C0"/>
                </a:solidFill>
              </a:rPr>
              <a:t>Three modes: creation, translation, update</a:t>
            </a:r>
            <a:endParaRPr sz="3200">
              <a:solidFill>
                <a:srgbClr val="0070C0"/>
              </a:solidFill>
            </a:endParaRPr>
          </a:p>
          <a:p>
            <a:pPr indent="-3860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GB" sz="3200">
                <a:solidFill>
                  <a:srgbClr val="0070C0"/>
                </a:solidFill>
              </a:rPr>
              <a:t>ICF Creation Mode:</a:t>
            </a:r>
            <a:endParaRPr sz="3200">
              <a:solidFill>
                <a:srgbClr val="0070C0"/>
              </a:solidFill>
            </a:endParaRPr>
          </a:p>
          <a:p>
            <a:pPr indent="-38608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GB" sz="3200">
                <a:solidFill>
                  <a:srgbClr val="0070C0"/>
                </a:solidFill>
              </a:rPr>
              <a:t>Accepts as input: sponsor documents, additional information	</a:t>
            </a:r>
            <a:endParaRPr sz="3200">
              <a:solidFill>
                <a:srgbClr val="0070C0"/>
              </a:solidFill>
            </a:endParaRPr>
          </a:p>
          <a:p>
            <a:pPr indent="-38608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GB" sz="3200">
                <a:solidFill>
                  <a:srgbClr val="0070C0"/>
                </a:solidFill>
              </a:rPr>
              <a:t>Provided as doc(x), pdf, &amp; </a:t>
            </a:r>
            <a:r>
              <a:rPr lang="en-GB" sz="3200">
                <a:solidFill>
                  <a:srgbClr val="0070C0"/>
                </a:solidFill>
              </a:rPr>
              <a:t>freeform</a:t>
            </a:r>
            <a:r>
              <a:rPr lang="en-GB" sz="3200">
                <a:solidFill>
                  <a:srgbClr val="0070C0"/>
                </a:solidFill>
              </a:rPr>
              <a:t> text</a:t>
            </a:r>
            <a:endParaRPr sz="3200">
              <a:solidFill>
                <a:srgbClr val="0070C0"/>
              </a:solidFill>
            </a:endParaRPr>
          </a:p>
          <a:p>
            <a:pPr indent="-38608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GB" sz="3200">
                <a:solidFill>
                  <a:srgbClr val="0070C0"/>
                </a:solidFill>
              </a:rPr>
              <a:t>Produces as output: the four types of ICF, in English, doc(x) format</a:t>
            </a:r>
            <a:endParaRPr sz="3200">
              <a:solidFill>
                <a:srgbClr val="0070C0"/>
              </a:solidFill>
            </a:endParaRPr>
          </a:p>
          <a:p>
            <a:pPr indent="-38608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GB" sz="3200">
                <a:solidFill>
                  <a:srgbClr val="0070C0"/>
                </a:solidFill>
              </a:rPr>
              <a:t>Uses the input documents to fill in and complete the ICF template</a:t>
            </a:r>
            <a:endParaRPr sz="3200">
              <a:solidFill>
                <a:srgbClr val="0070C0"/>
              </a:solidFill>
            </a:endParaRPr>
          </a:p>
          <a:p>
            <a:pPr indent="-38608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GB" sz="3200">
                <a:solidFill>
                  <a:srgbClr val="0070C0"/>
                </a:solidFill>
              </a:rPr>
              <a:t>Clearly indicates any edits to mandatory text and/or gaps due to lack of information for human review</a:t>
            </a:r>
            <a:endParaRPr sz="3200">
              <a:solidFill>
                <a:srgbClr val="0070C0"/>
              </a:solidFill>
            </a:endParaRPr>
          </a:p>
          <a:p>
            <a:pPr indent="-38608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GB" sz="3200">
                <a:solidFill>
                  <a:srgbClr val="0070C0"/>
                </a:solidFill>
              </a:rPr>
              <a:t>Uses illustrations available for free use or placeholders for children’s ICFs</a:t>
            </a:r>
            <a:endParaRPr sz="3200">
              <a:solidFill>
                <a:srgbClr val="0070C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70C0"/>
              </a:solidFill>
            </a:endParaRPr>
          </a:p>
        </p:txBody>
      </p:sp>
      <p:pic>
        <p:nvPicPr>
          <p:cNvPr descr="BSPHO" id="256" name="Google Shape;25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38438" y="626356"/>
            <a:ext cx="1536267" cy="728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96F07"/>
              </a:buClr>
              <a:buSzPts val="4400"/>
              <a:buFont typeface="Calibri"/>
              <a:buNone/>
            </a:pPr>
            <a:r>
              <a:rPr b="1" lang="en-GB">
                <a:solidFill>
                  <a:srgbClr val="F96F07"/>
                </a:solidFill>
              </a:rPr>
              <a:t>Solution Analysis: Must Have</a:t>
            </a:r>
            <a:endParaRPr/>
          </a:p>
        </p:txBody>
      </p:sp>
      <p:sp>
        <p:nvSpPr>
          <p:cNvPr id="263" name="Google Shape;263;p26"/>
          <p:cNvSpPr txBox="1"/>
          <p:nvPr>
            <p:ph idx="1" type="body"/>
          </p:nvPr>
        </p:nvSpPr>
        <p:spPr>
          <a:xfrm>
            <a:off x="838200" y="1690825"/>
            <a:ext cx="10515600" cy="46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10000"/>
          </a:bodyPr>
          <a:lstStyle/>
          <a:p>
            <a:pPr indent="-376238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GB" sz="3000">
                <a:solidFill>
                  <a:srgbClr val="0070C0"/>
                </a:solidFill>
              </a:rPr>
              <a:t>ICF Translation Mode:</a:t>
            </a:r>
            <a:endParaRPr sz="3000">
              <a:solidFill>
                <a:srgbClr val="0070C0"/>
              </a:solidFill>
            </a:endParaRPr>
          </a:p>
          <a:p>
            <a:pPr indent="-376238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GB" sz="3000">
                <a:solidFill>
                  <a:srgbClr val="0070C0"/>
                </a:solidFill>
              </a:rPr>
              <a:t>Accepts as input: the four types of ICF, in English</a:t>
            </a:r>
            <a:endParaRPr sz="3000">
              <a:solidFill>
                <a:srgbClr val="0070C0"/>
              </a:solidFill>
            </a:endParaRPr>
          </a:p>
          <a:p>
            <a:pPr indent="-376238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GB" sz="3000">
                <a:solidFill>
                  <a:srgbClr val="0070C0"/>
                </a:solidFill>
              </a:rPr>
              <a:t>Produces as output: the four types of ICF, in Dutch and French</a:t>
            </a:r>
            <a:endParaRPr sz="3000">
              <a:solidFill>
                <a:srgbClr val="0070C0"/>
              </a:solidFill>
            </a:endParaRPr>
          </a:p>
          <a:p>
            <a:pPr indent="-376238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GB" sz="3000">
                <a:solidFill>
                  <a:srgbClr val="0070C0"/>
                </a:solidFill>
              </a:rPr>
              <a:t>! Translation mode input can be different from creation mode output due to manual changes during the review process</a:t>
            </a:r>
            <a:endParaRPr sz="3000">
              <a:solidFill>
                <a:srgbClr val="0070C0"/>
              </a:solidFill>
            </a:endParaRPr>
          </a:p>
          <a:p>
            <a:pPr indent="-376238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GB" sz="3000">
                <a:solidFill>
                  <a:srgbClr val="0070C0"/>
                </a:solidFill>
              </a:rPr>
              <a:t>! Mixed translation: use the mandatory language in the NL &amp; FR ICF templates and add translated text from the English input to complete the template</a:t>
            </a:r>
            <a:endParaRPr sz="3000">
              <a:solidFill>
                <a:srgbClr val="0070C0"/>
              </a:solidFill>
            </a:endParaRPr>
          </a:p>
          <a:p>
            <a:pPr indent="-37623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GB" sz="3000">
                <a:solidFill>
                  <a:srgbClr val="0070C0"/>
                </a:solidFill>
              </a:rPr>
              <a:t>ICF Update Mode:</a:t>
            </a:r>
            <a:endParaRPr sz="3000">
              <a:solidFill>
                <a:srgbClr val="0070C0"/>
              </a:solidFill>
            </a:endParaRPr>
          </a:p>
          <a:p>
            <a:pPr indent="-376238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GB" sz="3000">
                <a:solidFill>
                  <a:srgbClr val="0070C0"/>
                </a:solidFill>
              </a:rPr>
              <a:t>Accepts as input: the four types of ICF, in EN, FR, and NL, made using a previous version of the templates</a:t>
            </a:r>
            <a:endParaRPr sz="3000">
              <a:solidFill>
                <a:srgbClr val="0070C0"/>
              </a:solidFill>
            </a:endParaRPr>
          </a:p>
          <a:p>
            <a:pPr indent="-376238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GB" sz="3000">
                <a:solidFill>
                  <a:srgbClr val="0070C0"/>
                </a:solidFill>
              </a:rPr>
              <a:t>Produces as output: </a:t>
            </a:r>
            <a:r>
              <a:rPr lang="en-GB" sz="3000">
                <a:solidFill>
                  <a:srgbClr val="0070C0"/>
                </a:solidFill>
              </a:rPr>
              <a:t>the updated versions of the four types of ICF, in EN, FR, and NL, made using the latest version of the templates</a:t>
            </a:r>
            <a:endParaRPr sz="3000">
              <a:solidFill>
                <a:srgbClr val="0070C0"/>
              </a:solidFill>
            </a:endParaRPr>
          </a:p>
        </p:txBody>
      </p:sp>
      <p:pic>
        <p:nvPicPr>
          <p:cNvPr descr="BSPHO" id="264" name="Google Shape;26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38438" y="626356"/>
            <a:ext cx="1536267" cy="728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96F07"/>
              </a:buClr>
              <a:buSzPts val="4400"/>
              <a:buFont typeface="Calibri"/>
              <a:buNone/>
            </a:pPr>
            <a:r>
              <a:rPr b="1" lang="en-GB">
                <a:solidFill>
                  <a:srgbClr val="F96F07"/>
                </a:solidFill>
              </a:rPr>
              <a:t>Solution Analysis: Nice to Have</a:t>
            </a:r>
            <a:endParaRPr/>
          </a:p>
        </p:txBody>
      </p:sp>
      <p:sp>
        <p:nvSpPr>
          <p:cNvPr id="271" name="Google Shape;271;p27"/>
          <p:cNvSpPr txBox="1"/>
          <p:nvPr>
            <p:ph idx="1" type="body"/>
          </p:nvPr>
        </p:nvSpPr>
        <p:spPr>
          <a:xfrm>
            <a:off x="838200" y="1801475"/>
            <a:ext cx="10515600" cy="46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404813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GB" sz="3000">
                <a:solidFill>
                  <a:srgbClr val="0070C0"/>
                </a:solidFill>
              </a:rPr>
              <a:t>Interactive creation experience: live human-in-the-loop escalations to provide additional information or guidance during the creation of the ICFs instead of manual post-processing</a:t>
            </a:r>
            <a:endParaRPr sz="3000">
              <a:solidFill>
                <a:srgbClr val="0070C0"/>
              </a:solidFill>
            </a:endParaRPr>
          </a:p>
          <a:p>
            <a:pPr indent="-40481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GB" sz="3000">
                <a:solidFill>
                  <a:srgbClr val="0070C0"/>
                </a:solidFill>
              </a:rPr>
              <a:t>Image generation to create illustrations for children’s ICFs</a:t>
            </a:r>
            <a:endParaRPr sz="3000">
              <a:solidFill>
                <a:srgbClr val="0070C0"/>
              </a:solidFill>
            </a:endParaRPr>
          </a:p>
          <a:p>
            <a:pPr indent="-40481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GB" sz="3000">
                <a:solidFill>
                  <a:srgbClr val="0070C0"/>
                </a:solidFill>
              </a:rPr>
              <a:t>Text simplification feature: a separate tool in the web app to help researchers simplify jargon into easy to understand text</a:t>
            </a:r>
            <a:endParaRPr sz="3000">
              <a:solidFill>
                <a:srgbClr val="0070C0"/>
              </a:solidFill>
            </a:endParaRPr>
          </a:p>
          <a:p>
            <a:pPr indent="-40481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GB" sz="3000">
                <a:solidFill>
                  <a:srgbClr val="0070C0"/>
                </a:solidFill>
              </a:rPr>
              <a:t>Text translation feature: a separate tool in the web app for translating plain text between any of the required languages</a:t>
            </a:r>
            <a:endParaRPr sz="3000">
              <a:solidFill>
                <a:srgbClr val="0070C0"/>
              </a:solidFill>
            </a:endParaRPr>
          </a:p>
          <a:p>
            <a:pPr indent="-40481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GB" sz="3000">
                <a:solidFill>
                  <a:srgbClr val="0070C0"/>
                </a:solidFill>
              </a:rPr>
              <a:t>ICF generation for studies not involving medicine, which uses a different set of templates (observational or with interventions)</a:t>
            </a:r>
            <a:endParaRPr sz="3000">
              <a:solidFill>
                <a:srgbClr val="0070C0"/>
              </a:solidFill>
            </a:endParaRPr>
          </a:p>
        </p:txBody>
      </p:sp>
      <p:pic>
        <p:nvPicPr>
          <p:cNvPr descr="BSPHO" id="272" name="Google Shape;27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38438" y="626356"/>
            <a:ext cx="1536267" cy="728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96F07"/>
              </a:buClr>
              <a:buSzPts val="4400"/>
              <a:buFont typeface="Calibri"/>
              <a:buNone/>
            </a:pPr>
            <a:r>
              <a:rPr b="1" lang="en-GB">
                <a:solidFill>
                  <a:srgbClr val="F96F07"/>
                </a:solidFill>
              </a:rPr>
              <a:t>Provided Sources</a:t>
            </a:r>
            <a:endParaRPr/>
          </a:p>
        </p:txBody>
      </p:sp>
      <p:sp>
        <p:nvSpPr>
          <p:cNvPr id="279" name="Google Shape;279;p28"/>
          <p:cNvSpPr txBox="1"/>
          <p:nvPr>
            <p:ph idx="1" type="body"/>
          </p:nvPr>
        </p:nvSpPr>
        <p:spPr>
          <a:xfrm>
            <a:off x="838200" y="2155575"/>
            <a:ext cx="10515600" cy="46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lang="en-GB" sz="3000">
                <a:solidFill>
                  <a:srgbClr val="0070C0"/>
                </a:solidFill>
              </a:rPr>
              <a:t>Belgian ICF template for adults in EN, FR, NL</a:t>
            </a:r>
            <a:endParaRPr sz="3000">
              <a:solidFill>
                <a:srgbClr val="0070C0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lang="en-GB" sz="3000">
                <a:solidFill>
                  <a:srgbClr val="0070C0"/>
                </a:solidFill>
              </a:rPr>
              <a:t>HIRUZ templates for adolescents and children in EN, FR, NL</a:t>
            </a:r>
            <a:endParaRPr sz="3000">
              <a:solidFill>
                <a:srgbClr val="0070C0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lang="en-GB" sz="3000">
                <a:solidFill>
                  <a:srgbClr val="0070C0"/>
                </a:solidFill>
              </a:rPr>
              <a:t>HIRUZ templates for non-medication studies in EN, FR, NL</a:t>
            </a:r>
            <a:endParaRPr sz="3000">
              <a:solidFill>
                <a:srgbClr val="0070C0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lang="en-GB" sz="3000">
                <a:solidFill>
                  <a:srgbClr val="0070C0"/>
                </a:solidFill>
              </a:rPr>
              <a:t>Previously created ICFs, including sponsor documents</a:t>
            </a:r>
            <a:endParaRPr sz="3000">
              <a:solidFill>
                <a:srgbClr val="0070C0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lang="en-GB" sz="3000">
                <a:solidFill>
                  <a:srgbClr val="0070C0"/>
                </a:solidFill>
              </a:rPr>
              <a:t>Sample illustrations used for children’s ICFs</a:t>
            </a:r>
            <a:endParaRPr sz="3000">
              <a:solidFill>
                <a:srgbClr val="0070C0"/>
              </a:solidFill>
            </a:endParaRPr>
          </a:p>
        </p:txBody>
      </p:sp>
      <p:pic>
        <p:nvPicPr>
          <p:cNvPr descr="BSPHO" id="280" name="Google Shape;28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38438" y="626356"/>
            <a:ext cx="1536267" cy="728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96F07"/>
              </a:buClr>
              <a:buSzPts val="4400"/>
              <a:buFont typeface="Calibri"/>
              <a:buNone/>
            </a:pPr>
            <a:r>
              <a:rPr b="1" lang="en-GB">
                <a:solidFill>
                  <a:srgbClr val="F96F07"/>
                </a:solidFill>
              </a:rPr>
              <a:t>Advice</a:t>
            </a:r>
            <a:endParaRPr/>
          </a:p>
        </p:txBody>
      </p:sp>
      <p:sp>
        <p:nvSpPr>
          <p:cNvPr id="287" name="Google Shape;287;p29"/>
          <p:cNvSpPr txBox="1"/>
          <p:nvPr>
            <p:ph idx="1" type="body"/>
          </p:nvPr>
        </p:nvSpPr>
        <p:spPr>
          <a:xfrm>
            <a:off x="838200" y="1809550"/>
            <a:ext cx="10515600" cy="46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lang="en-GB" sz="3000">
                <a:solidFill>
                  <a:srgbClr val="0070C0"/>
                </a:solidFill>
              </a:rPr>
              <a:t>The Belgian ICF template is a complex document that combines guidance, </a:t>
            </a:r>
            <a:r>
              <a:rPr lang="en-GB" sz="3000">
                <a:solidFill>
                  <a:srgbClr val="FF0000"/>
                </a:solidFill>
              </a:rPr>
              <a:t>instructions</a:t>
            </a:r>
            <a:r>
              <a:rPr lang="en-GB" sz="3000">
                <a:solidFill>
                  <a:srgbClr val="0070C0"/>
                </a:solidFill>
              </a:rPr>
              <a:t>, </a:t>
            </a:r>
            <a:r>
              <a:rPr lang="en-GB" sz="3000">
                <a:solidFill>
                  <a:srgbClr val="9900FF"/>
                </a:solidFill>
              </a:rPr>
              <a:t>mandatory text</a:t>
            </a:r>
            <a:r>
              <a:rPr lang="en-GB" sz="3000">
                <a:solidFill>
                  <a:srgbClr val="0070C0"/>
                </a:solidFill>
              </a:rPr>
              <a:t>, </a:t>
            </a:r>
            <a:r>
              <a:rPr lang="en-GB" sz="3000"/>
              <a:t>proposed text</a:t>
            </a:r>
            <a:r>
              <a:rPr lang="en-GB" sz="3000">
                <a:solidFill>
                  <a:srgbClr val="0070C0"/>
                </a:solidFill>
              </a:rPr>
              <a:t>, and </a:t>
            </a:r>
            <a:r>
              <a:rPr lang="en-GB" sz="3000">
                <a:solidFill>
                  <a:srgbClr val="0000FF"/>
                </a:solidFill>
              </a:rPr>
              <a:t>placeholder text</a:t>
            </a:r>
            <a:r>
              <a:rPr lang="en-GB" sz="3000">
                <a:solidFill>
                  <a:srgbClr val="0070C0"/>
                </a:solidFill>
              </a:rPr>
              <a:t> in a single document, indicated with different colors and provided as a docx file</a:t>
            </a:r>
            <a:endParaRPr sz="3000">
              <a:solidFill>
                <a:srgbClr val="0070C0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lang="en-GB" sz="3000">
                <a:solidFill>
                  <a:srgbClr val="0070C0"/>
                </a:solidFill>
              </a:rPr>
              <a:t>Review the template so you know how it is structured, which can give you ideas on how it can be broken down into something for modular use within an application</a:t>
            </a:r>
            <a:endParaRPr sz="3000">
              <a:solidFill>
                <a:srgbClr val="0070C0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Char char="•"/>
            </a:pPr>
            <a:r>
              <a:rPr lang="en-GB" sz="3000">
                <a:solidFill>
                  <a:srgbClr val="0070C0"/>
                </a:solidFill>
              </a:rPr>
              <a:t>Include this transformation in your application logic, so it can be reused for future template updates</a:t>
            </a:r>
            <a:endParaRPr sz="3000">
              <a:solidFill>
                <a:srgbClr val="0070C0"/>
              </a:solidFill>
            </a:endParaRPr>
          </a:p>
        </p:txBody>
      </p:sp>
      <p:pic>
        <p:nvPicPr>
          <p:cNvPr descr="BSPHO" id="288" name="Google Shape;28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38438" y="626356"/>
            <a:ext cx="1536267" cy="728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Kantoorthema">
  <a:themeElements>
    <a:clrScheme name="Kantoo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